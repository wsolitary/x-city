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0" r:id="rId6"/>
    <p:sldId id="262" r:id="rId7"/>
  </p:sldIdLst>
  <p:sldSz cx="16256000" cy="9144000"/>
  <p:notesSz cx="9144000" cy="16256000"/>
  <p:embeddedFontLst>
    <p:embeddedFont>
      <p:font typeface="MiSans" pitchFamily="34" charset="-122"/>
      <p:regular r:id="rId11"/>
    </p:embeddedFont>
    <p:embeddedFont>
      <p:font typeface="MiSans" pitchFamily="34" charset="-120"/>
      <p:regular r:id="rId12"/>
    </p:embeddedFont>
    <p:embeddedFont>
      <p:font typeface="得意黑" pitchFamily="34" charset="-122"/>
      <p:italic r:id="rId13"/>
    </p:embeddedFont>
    <p:embeddedFont>
      <p:font typeface="得意黑" pitchFamily="34" charset="-120"/>
      <p:italic r:id="rId14"/>
    </p:embeddedFont>
    <p:embeddedFont>
      <p:font typeface="Calibri" panose="020F0502020204030204" charset="0"/>
      <p:regular r:id="rId15"/>
      <p:bold r:id="rId16"/>
      <p:italic r:id="rId17"/>
      <p:boldItalic r:id="rId18"/>
    </p:embeddedFont>
    <p:embeddedFont>
      <p:font typeface="等线" panose="02010600030101010101" charset="-122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font" Target="fonts/font9.fntdata"/><Relationship Id="rId18" Type="http://schemas.openxmlformats.org/officeDocument/2006/relationships/font" Target="fonts/font8.fntdata"/><Relationship Id="rId17" Type="http://schemas.openxmlformats.org/officeDocument/2006/relationships/font" Target="fonts/font7.fntdata"/><Relationship Id="rId16" Type="http://schemas.openxmlformats.org/officeDocument/2006/relationships/font" Target="fonts/font6.fntdata"/><Relationship Id="rId15" Type="http://schemas.openxmlformats.org/officeDocument/2006/relationships/font" Target="fonts/font5.fntdata"/><Relationship Id="rId14" Type="http://schemas.openxmlformats.org/officeDocument/2006/relationships/font" Target="fonts/font4.fntdata"/><Relationship Id="rId13" Type="http://schemas.openxmlformats.org/officeDocument/2006/relationships/font" Target="fonts/font3.fntdata"/><Relationship Id="rId12" Type="http://schemas.openxmlformats.org/officeDocument/2006/relationships/font" Target="fonts/font2.fntdata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8" Type="http://schemas.openxmlformats.org/officeDocument/2006/relationships/notesSlide" Target="../notesSlides/notesSlide3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7.png"/><Relationship Id="rId15" Type="http://schemas.openxmlformats.org/officeDocument/2006/relationships/image" Target="../media/image6.png"/><Relationship Id="rId14" Type="http://schemas.openxmlformats.org/officeDocument/2006/relationships/image" Target="../media/image5.png"/><Relationship Id="rId13" Type="http://schemas.openxmlformats.org/officeDocument/2006/relationships/image" Target="../media/image4.png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3.ftcdn.net/f5bbf6dd6788ddbf052d0e14766f642eef1e12ed.jpg"/>
          <p:cNvPicPr>
            <a:picLocks noChangeAspect="1"/>
          </p:cNvPicPr>
          <p:nvPr/>
        </p:nvPicPr>
        <p:blipFill>
          <a:blip r:embed="rId1">
            <a:alphaModFix amt="40000"/>
          </a:blip>
          <a:srcRect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A1D">
                  <a:alpha val="95000"/>
                </a:srgbClr>
              </a:gs>
              <a:gs pos="50000">
                <a:srgbClr val="1A1A1D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08000" y="6604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00A896"/>
          </a:solidFill>
        </p:spPr>
      </p:sp>
      <p:sp>
        <p:nvSpPr>
          <p:cNvPr id="5" name="Text 2"/>
          <p:cNvSpPr/>
          <p:nvPr/>
        </p:nvSpPr>
        <p:spPr>
          <a:xfrm>
            <a:off x="1676400" y="508000"/>
            <a:ext cx="3416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kern="0" spc="180" dirty="0">
                <a:solidFill>
                  <a:srgbClr val="00A8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X-City Hackathon 2025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692400"/>
            <a:ext cx="107696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F5F5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Vigil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4114800"/>
            <a:ext cx="104648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F5F5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程序员精力管理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410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A896"/>
          </a:solidFill>
        </p:spPr>
      </p:sp>
      <p:sp>
        <p:nvSpPr>
          <p:cNvPr id="9" name="Text 6"/>
          <p:cNvSpPr/>
          <p:nvPr/>
        </p:nvSpPr>
        <p:spPr>
          <a:xfrm>
            <a:off x="863600" y="5283200"/>
            <a:ext cx="2032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F5F5F5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EAR 实时检测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8000" y="5969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A896"/>
          </a:solidFill>
        </p:spPr>
      </p:sp>
      <p:sp>
        <p:nvSpPr>
          <p:cNvPr id="11" name="Text 8"/>
          <p:cNvSpPr/>
          <p:nvPr/>
        </p:nvSpPr>
        <p:spPr>
          <a:xfrm>
            <a:off x="863600" y="5842000"/>
            <a:ext cx="32131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F5F5F5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Moonshot AI 毒舌干预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8000" y="6527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A896"/>
          </a:solidFill>
        </p:spPr>
      </p:sp>
      <p:sp>
        <p:nvSpPr>
          <p:cNvPr id="13" name="Text 10"/>
          <p:cNvSpPr/>
          <p:nvPr/>
        </p:nvSpPr>
        <p:spPr>
          <a:xfrm>
            <a:off x="863600" y="6400800"/>
            <a:ext cx="2108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F5F5F5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Streamlit 看板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3185378" y="5080000"/>
            <a:ext cx="666750" cy="762000"/>
          </a:xfrm>
          <a:custGeom>
            <a:avLst/>
            <a:gdLst/>
            <a:ahLst/>
            <a:cxnLst/>
            <a:rect l="l" t="t" r="r" b="b"/>
            <a:pathLst>
              <a:path w="666750" h="762000">
                <a:moveTo>
                  <a:pt x="95250" y="47625"/>
                </a:moveTo>
                <a:cubicBezTo>
                  <a:pt x="42714" y="47625"/>
                  <a:pt x="0" y="90339"/>
                  <a:pt x="0" y="142875"/>
                </a:cubicBezTo>
                <a:lnTo>
                  <a:pt x="0" y="619125"/>
                </a:lnTo>
                <a:cubicBezTo>
                  <a:pt x="0" y="671661"/>
                  <a:pt x="42714" y="714375"/>
                  <a:pt x="95250" y="714375"/>
                </a:cubicBezTo>
                <a:lnTo>
                  <a:pt x="571500" y="714375"/>
                </a:lnTo>
                <a:cubicBezTo>
                  <a:pt x="624036" y="714375"/>
                  <a:pt x="666750" y="671661"/>
                  <a:pt x="666750" y="619125"/>
                </a:cubicBezTo>
                <a:lnTo>
                  <a:pt x="666750" y="142875"/>
                </a:lnTo>
                <a:cubicBezTo>
                  <a:pt x="666750" y="90339"/>
                  <a:pt x="624036" y="47625"/>
                  <a:pt x="571500" y="47625"/>
                </a:cubicBezTo>
                <a:lnTo>
                  <a:pt x="95250" y="47625"/>
                </a:lnTo>
                <a:close/>
                <a:moveTo>
                  <a:pt x="190500" y="166688"/>
                </a:moveTo>
                <a:cubicBezTo>
                  <a:pt x="229927" y="166688"/>
                  <a:pt x="261938" y="198698"/>
                  <a:pt x="261938" y="238125"/>
                </a:cubicBezTo>
                <a:cubicBezTo>
                  <a:pt x="261938" y="277552"/>
                  <a:pt x="229927" y="309563"/>
                  <a:pt x="190500" y="309563"/>
                </a:cubicBezTo>
                <a:cubicBezTo>
                  <a:pt x="151073" y="309563"/>
                  <a:pt x="119063" y="277552"/>
                  <a:pt x="119063" y="238125"/>
                </a:cubicBezTo>
                <a:cubicBezTo>
                  <a:pt x="119063" y="198698"/>
                  <a:pt x="151073" y="166688"/>
                  <a:pt x="190500" y="166688"/>
                </a:cubicBezTo>
                <a:close/>
                <a:moveTo>
                  <a:pt x="404813" y="333375"/>
                </a:moveTo>
                <a:cubicBezTo>
                  <a:pt x="417314" y="333375"/>
                  <a:pt x="428774" y="339923"/>
                  <a:pt x="435322" y="350490"/>
                </a:cubicBezTo>
                <a:lnTo>
                  <a:pt x="566291" y="564803"/>
                </a:lnTo>
                <a:cubicBezTo>
                  <a:pt x="572988" y="575816"/>
                  <a:pt x="573286" y="589657"/>
                  <a:pt x="567035" y="600968"/>
                </a:cubicBezTo>
                <a:cubicBezTo>
                  <a:pt x="560784" y="612279"/>
                  <a:pt x="548729" y="619125"/>
                  <a:pt x="535781" y="619125"/>
                </a:cubicBezTo>
                <a:lnTo>
                  <a:pt x="130969" y="619125"/>
                </a:lnTo>
                <a:cubicBezTo>
                  <a:pt x="117723" y="619125"/>
                  <a:pt x="105370" y="611684"/>
                  <a:pt x="99268" y="599926"/>
                </a:cubicBezTo>
                <a:cubicBezTo>
                  <a:pt x="93166" y="588169"/>
                  <a:pt x="94059" y="573881"/>
                  <a:pt x="101650" y="563017"/>
                </a:cubicBezTo>
                <a:lnTo>
                  <a:pt x="184993" y="443954"/>
                </a:lnTo>
                <a:cubicBezTo>
                  <a:pt x="191691" y="434429"/>
                  <a:pt x="202555" y="428774"/>
                  <a:pt x="214313" y="428774"/>
                </a:cubicBezTo>
                <a:cubicBezTo>
                  <a:pt x="226070" y="428774"/>
                  <a:pt x="236934" y="434429"/>
                  <a:pt x="243632" y="443954"/>
                </a:cubicBezTo>
                <a:lnTo>
                  <a:pt x="282922" y="500211"/>
                </a:lnTo>
                <a:lnTo>
                  <a:pt x="374303" y="350639"/>
                </a:lnTo>
                <a:cubicBezTo>
                  <a:pt x="380851" y="340072"/>
                  <a:pt x="392311" y="333524"/>
                  <a:pt x="404813" y="333524"/>
                </a:cubicBezTo>
                <a:close/>
              </a:path>
            </a:pathLst>
          </a:custGeom>
          <a:solidFill>
            <a:srgbClr val="4E4E50"/>
          </a:solidFill>
        </p:spPr>
      </p:sp>
      <p:sp>
        <p:nvSpPr>
          <p:cNvPr id="16" name="Text 13"/>
          <p:cNvSpPr/>
          <p:nvPr/>
        </p:nvSpPr>
        <p:spPr>
          <a:xfrm>
            <a:off x="12664943" y="4572000"/>
            <a:ext cx="2095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F5F5F5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界面占位框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677643" y="5638800"/>
            <a:ext cx="207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00A8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→ 循环播放</a:t>
            </a:r>
            <a:endParaRPr lang="en-US" sz="1600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150" y="1287145"/>
            <a:ext cx="11499850" cy="656971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6040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812800" h="50800">
                <a:moveTo>
                  <a:pt x="0" y="0"/>
                </a:moveTo>
                <a:lnTo>
                  <a:pt x="812800" y="0"/>
                </a:lnTo>
                <a:lnTo>
                  <a:pt x="81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00A896"/>
          </a:solidFill>
        </p:spPr>
      </p:sp>
      <p:sp>
        <p:nvSpPr>
          <p:cNvPr id="3" name="Text 1"/>
          <p:cNvSpPr/>
          <p:nvPr/>
        </p:nvSpPr>
        <p:spPr>
          <a:xfrm>
            <a:off x="1473200" y="508000"/>
            <a:ext cx="1778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kern="0" spc="90" dirty="0">
                <a:solidFill>
                  <a:srgbClr val="00A8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16000"/>
            <a:ext cx="8521700" cy="152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4800" b="1" dirty="0">
                <a:solidFill>
                  <a:srgbClr val="F5F5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每日总结报告</a:t>
            </a:r>
            <a:endParaRPr lang="zh-CN" alt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2946400"/>
            <a:ext cx="50800" cy="1333500"/>
          </a:xfrm>
          <a:custGeom>
            <a:avLst/>
            <a:gdLst/>
            <a:ahLst/>
            <a:cxnLst/>
            <a:rect l="l" t="t" r="r" b="b"/>
            <a:pathLst>
              <a:path w="50800" h="1333500">
                <a:moveTo>
                  <a:pt x="0" y="0"/>
                </a:moveTo>
                <a:lnTo>
                  <a:pt x="50800" y="0"/>
                </a:lnTo>
                <a:lnTo>
                  <a:pt x="508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00A896"/>
          </a:solidFill>
        </p:spPr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890588" y="29972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14313" y="23812"/>
                </a:moveTo>
                <a:cubicBezTo>
                  <a:pt x="154186" y="23812"/>
                  <a:pt x="106040" y="51197"/>
                  <a:pt x="70991" y="83790"/>
                </a:cubicBezTo>
                <a:cubicBezTo>
                  <a:pt x="36165" y="116160"/>
                  <a:pt x="12874" y="154781"/>
                  <a:pt x="1786" y="181347"/>
                </a:cubicBezTo>
                <a:cubicBezTo>
                  <a:pt x="-670" y="187226"/>
                  <a:pt x="-670" y="193774"/>
                  <a:pt x="1786" y="199653"/>
                </a:cubicBezTo>
                <a:cubicBezTo>
                  <a:pt x="12874" y="226219"/>
                  <a:pt x="36165" y="264914"/>
                  <a:pt x="70991" y="297210"/>
                </a:cubicBezTo>
                <a:cubicBezTo>
                  <a:pt x="106040" y="329729"/>
                  <a:pt x="154186" y="357188"/>
                  <a:pt x="214313" y="357188"/>
                </a:cubicBezTo>
                <a:cubicBezTo>
                  <a:pt x="274439" y="357188"/>
                  <a:pt x="322585" y="329803"/>
                  <a:pt x="357634" y="297210"/>
                </a:cubicBezTo>
                <a:cubicBezTo>
                  <a:pt x="392460" y="264840"/>
                  <a:pt x="415751" y="226219"/>
                  <a:pt x="426839" y="199653"/>
                </a:cubicBezTo>
                <a:cubicBezTo>
                  <a:pt x="429295" y="193774"/>
                  <a:pt x="429295" y="187226"/>
                  <a:pt x="426839" y="181347"/>
                </a:cubicBezTo>
                <a:cubicBezTo>
                  <a:pt x="415751" y="154781"/>
                  <a:pt x="392460" y="116086"/>
                  <a:pt x="357634" y="83790"/>
                </a:cubicBezTo>
                <a:cubicBezTo>
                  <a:pt x="322585" y="51271"/>
                  <a:pt x="274439" y="23812"/>
                  <a:pt x="214313" y="23812"/>
                </a:cubicBezTo>
                <a:close/>
                <a:moveTo>
                  <a:pt x="107156" y="190500"/>
                </a:moveTo>
                <a:cubicBezTo>
                  <a:pt x="107156" y="131359"/>
                  <a:pt x="155171" y="83344"/>
                  <a:pt x="214313" y="83344"/>
                </a:cubicBezTo>
                <a:cubicBezTo>
                  <a:pt x="273454" y="83344"/>
                  <a:pt x="321469" y="131359"/>
                  <a:pt x="321469" y="190500"/>
                </a:cubicBezTo>
                <a:cubicBezTo>
                  <a:pt x="321469" y="249641"/>
                  <a:pt x="273454" y="297656"/>
                  <a:pt x="214313" y="297656"/>
                </a:cubicBezTo>
                <a:cubicBezTo>
                  <a:pt x="155171" y="297656"/>
                  <a:pt x="107156" y="249641"/>
                  <a:pt x="107156" y="190500"/>
                </a:cubicBezTo>
                <a:close/>
                <a:moveTo>
                  <a:pt x="214313" y="142875"/>
                </a:moveTo>
                <a:cubicBezTo>
                  <a:pt x="214313" y="169143"/>
                  <a:pt x="192956" y="190500"/>
                  <a:pt x="166688" y="190500"/>
                </a:cubicBezTo>
                <a:cubicBezTo>
                  <a:pt x="158130" y="190500"/>
                  <a:pt x="150093" y="188268"/>
                  <a:pt x="143098" y="184249"/>
                </a:cubicBezTo>
                <a:cubicBezTo>
                  <a:pt x="142354" y="192360"/>
                  <a:pt x="143024" y="200695"/>
                  <a:pt x="145256" y="208955"/>
                </a:cubicBezTo>
                <a:cubicBezTo>
                  <a:pt x="155451" y="247055"/>
                  <a:pt x="194667" y="269677"/>
                  <a:pt x="232767" y="259482"/>
                </a:cubicBezTo>
                <a:cubicBezTo>
                  <a:pt x="270867" y="249287"/>
                  <a:pt x="293489" y="210071"/>
                  <a:pt x="283294" y="171971"/>
                </a:cubicBezTo>
                <a:cubicBezTo>
                  <a:pt x="274216" y="137964"/>
                  <a:pt x="241995" y="116309"/>
                  <a:pt x="208062" y="119286"/>
                </a:cubicBezTo>
                <a:cubicBezTo>
                  <a:pt x="212006" y="126206"/>
                  <a:pt x="214313" y="134243"/>
                  <a:pt x="214313" y="142875"/>
                </a:cubicBezTo>
                <a:close/>
              </a:path>
            </a:pathLst>
          </a:custGeom>
          <a:solidFill>
            <a:srgbClr val="00A896"/>
          </a:solidFill>
        </p:spPr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1473200" y="2997200"/>
            <a:ext cx="2311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用户表现总结</a:t>
            </a:r>
            <a:endParaRPr lang="en-US" sz="2400" b="1" dirty="0">
              <a:solidFill>
                <a:srgbClr val="F5F5F5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863600" y="3530600"/>
            <a:ext cx="7975600" cy="749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5F5F5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通过实时监测用户的工作状态，能够即时识别专注与疲劳时段，为用户提供及时的调整建议，帮助用户维持高效工作状态。</a:t>
            </a:r>
            <a:endParaRPr lang="en-US" sz="1800" dirty="0">
              <a:solidFill>
                <a:srgbClr val="F5F5F5">
                  <a:alpha val="80000"/>
                </a:srgb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33400" y="4578350"/>
            <a:ext cx="50800" cy="1333500"/>
          </a:xfrm>
          <a:custGeom>
            <a:avLst/>
            <a:gdLst/>
            <a:ahLst/>
            <a:cxnLst/>
            <a:rect l="l" t="t" r="r" b="b"/>
            <a:pathLst>
              <a:path w="50800" h="1333500">
                <a:moveTo>
                  <a:pt x="0" y="0"/>
                </a:moveTo>
                <a:lnTo>
                  <a:pt x="50800" y="0"/>
                </a:lnTo>
                <a:lnTo>
                  <a:pt x="508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00A896"/>
          </a:solidFill>
        </p:spPr>
      </p:sp>
      <p:sp>
        <p:nvSpPr>
          <p:cNvPr id="10" name="Shape 8"/>
          <p:cNvSpPr/>
          <p:nvPr>
            <p:custDataLst>
              <p:tags r:id="rId4"/>
            </p:custDataLst>
          </p:nvPr>
        </p:nvSpPr>
        <p:spPr>
          <a:xfrm>
            <a:off x="914400" y="4629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30969" y="17859"/>
                </a:moveTo>
                <a:cubicBezTo>
                  <a:pt x="130969" y="7962"/>
                  <a:pt x="123006" y="0"/>
                  <a:pt x="113109" y="0"/>
                </a:cubicBezTo>
                <a:cubicBezTo>
                  <a:pt x="103212" y="0"/>
                  <a:pt x="95250" y="7962"/>
                  <a:pt x="95250" y="17859"/>
                </a:cubicBezTo>
                <a:lnTo>
                  <a:pt x="95250" y="47625"/>
                </a:lnTo>
                <a:cubicBezTo>
                  <a:pt x="68982" y="47625"/>
                  <a:pt x="47625" y="68982"/>
                  <a:pt x="47625" y="95250"/>
                </a:cubicBezTo>
                <a:lnTo>
                  <a:pt x="17859" y="95250"/>
                </a:lnTo>
                <a:cubicBezTo>
                  <a:pt x="7962" y="95250"/>
                  <a:pt x="0" y="103212"/>
                  <a:pt x="0" y="113109"/>
                </a:cubicBezTo>
                <a:cubicBezTo>
                  <a:pt x="0" y="123006"/>
                  <a:pt x="7962" y="130969"/>
                  <a:pt x="17859" y="130969"/>
                </a:cubicBezTo>
                <a:lnTo>
                  <a:pt x="47625" y="130969"/>
                </a:lnTo>
                <a:lnTo>
                  <a:pt x="47625" y="172641"/>
                </a:lnTo>
                <a:lnTo>
                  <a:pt x="17859" y="172641"/>
                </a:lnTo>
                <a:cubicBezTo>
                  <a:pt x="7962" y="172641"/>
                  <a:pt x="0" y="180603"/>
                  <a:pt x="0" y="190500"/>
                </a:cubicBezTo>
                <a:cubicBezTo>
                  <a:pt x="0" y="200397"/>
                  <a:pt x="7962" y="208359"/>
                  <a:pt x="17859" y="208359"/>
                </a:cubicBezTo>
                <a:lnTo>
                  <a:pt x="47625" y="208359"/>
                </a:lnTo>
                <a:lnTo>
                  <a:pt x="47625" y="250031"/>
                </a:lnTo>
                <a:lnTo>
                  <a:pt x="17859" y="250031"/>
                </a:lnTo>
                <a:cubicBezTo>
                  <a:pt x="7962" y="250031"/>
                  <a:pt x="0" y="257994"/>
                  <a:pt x="0" y="267891"/>
                </a:cubicBezTo>
                <a:cubicBezTo>
                  <a:pt x="0" y="277788"/>
                  <a:pt x="7962" y="285750"/>
                  <a:pt x="17859" y="285750"/>
                </a:cubicBezTo>
                <a:lnTo>
                  <a:pt x="47625" y="285750"/>
                </a:lnTo>
                <a:cubicBezTo>
                  <a:pt x="47625" y="312018"/>
                  <a:pt x="68982" y="333375"/>
                  <a:pt x="95250" y="333375"/>
                </a:cubicBezTo>
                <a:lnTo>
                  <a:pt x="95250" y="363141"/>
                </a:lnTo>
                <a:cubicBezTo>
                  <a:pt x="95250" y="373038"/>
                  <a:pt x="103212" y="381000"/>
                  <a:pt x="113109" y="381000"/>
                </a:cubicBezTo>
                <a:cubicBezTo>
                  <a:pt x="123006" y="381000"/>
                  <a:pt x="130969" y="373038"/>
                  <a:pt x="130969" y="363141"/>
                </a:cubicBezTo>
                <a:lnTo>
                  <a:pt x="130969" y="333375"/>
                </a:lnTo>
                <a:lnTo>
                  <a:pt x="172641" y="333375"/>
                </a:lnTo>
                <a:lnTo>
                  <a:pt x="172641" y="363141"/>
                </a:lnTo>
                <a:cubicBezTo>
                  <a:pt x="172641" y="373038"/>
                  <a:pt x="180603" y="381000"/>
                  <a:pt x="190500" y="381000"/>
                </a:cubicBezTo>
                <a:cubicBezTo>
                  <a:pt x="200397" y="381000"/>
                  <a:pt x="208359" y="373038"/>
                  <a:pt x="208359" y="363141"/>
                </a:cubicBezTo>
                <a:lnTo>
                  <a:pt x="208359" y="333375"/>
                </a:lnTo>
                <a:lnTo>
                  <a:pt x="250031" y="333375"/>
                </a:lnTo>
                <a:lnTo>
                  <a:pt x="250031" y="363141"/>
                </a:lnTo>
                <a:cubicBezTo>
                  <a:pt x="250031" y="373038"/>
                  <a:pt x="257994" y="381000"/>
                  <a:pt x="267891" y="381000"/>
                </a:cubicBezTo>
                <a:cubicBezTo>
                  <a:pt x="277788" y="381000"/>
                  <a:pt x="285750" y="373038"/>
                  <a:pt x="285750" y="363141"/>
                </a:cubicBezTo>
                <a:lnTo>
                  <a:pt x="285750" y="333375"/>
                </a:lnTo>
                <a:cubicBezTo>
                  <a:pt x="312018" y="333375"/>
                  <a:pt x="333375" y="312018"/>
                  <a:pt x="333375" y="285750"/>
                </a:cubicBezTo>
                <a:lnTo>
                  <a:pt x="363141" y="285750"/>
                </a:lnTo>
                <a:cubicBezTo>
                  <a:pt x="373038" y="285750"/>
                  <a:pt x="381000" y="277788"/>
                  <a:pt x="381000" y="267891"/>
                </a:cubicBezTo>
                <a:cubicBezTo>
                  <a:pt x="381000" y="257994"/>
                  <a:pt x="373038" y="250031"/>
                  <a:pt x="363141" y="250031"/>
                </a:cubicBezTo>
                <a:lnTo>
                  <a:pt x="333375" y="250031"/>
                </a:lnTo>
                <a:lnTo>
                  <a:pt x="333375" y="208359"/>
                </a:lnTo>
                <a:lnTo>
                  <a:pt x="363141" y="208359"/>
                </a:lnTo>
                <a:cubicBezTo>
                  <a:pt x="373038" y="208359"/>
                  <a:pt x="381000" y="200397"/>
                  <a:pt x="381000" y="190500"/>
                </a:cubicBezTo>
                <a:cubicBezTo>
                  <a:pt x="381000" y="180603"/>
                  <a:pt x="373038" y="172641"/>
                  <a:pt x="363141" y="172641"/>
                </a:cubicBezTo>
                <a:lnTo>
                  <a:pt x="333375" y="172641"/>
                </a:lnTo>
                <a:lnTo>
                  <a:pt x="333375" y="130969"/>
                </a:lnTo>
                <a:lnTo>
                  <a:pt x="363141" y="130969"/>
                </a:lnTo>
                <a:cubicBezTo>
                  <a:pt x="373038" y="130969"/>
                  <a:pt x="381000" y="123006"/>
                  <a:pt x="381000" y="113109"/>
                </a:cubicBezTo>
                <a:cubicBezTo>
                  <a:pt x="381000" y="103212"/>
                  <a:pt x="373038" y="95250"/>
                  <a:pt x="363141" y="95250"/>
                </a:cubicBezTo>
                <a:lnTo>
                  <a:pt x="333375" y="95250"/>
                </a:lnTo>
                <a:cubicBezTo>
                  <a:pt x="333375" y="68982"/>
                  <a:pt x="312018" y="47625"/>
                  <a:pt x="285750" y="47625"/>
                </a:cubicBezTo>
                <a:lnTo>
                  <a:pt x="285750" y="17859"/>
                </a:lnTo>
                <a:cubicBezTo>
                  <a:pt x="285750" y="7962"/>
                  <a:pt x="277788" y="0"/>
                  <a:pt x="267891" y="0"/>
                </a:cubicBezTo>
                <a:cubicBezTo>
                  <a:pt x="257994" y="0"/>
                  <a:pt x="250031" y="7962"/>
                  <a:pt x="250031" y="17859"/>
                </a:cubicBezTo>
                <a:lnTo>
                  <a:pt x="250031" y="47625"/>
                </a:lnTo>
                <a:lnTo>
                  <a:pt x="208359" y="47625"/>
                </a:lnTo>
                <a:lnTo>
                  <a:pt x="208359" y="17859"/>
                </a:lnTo>
                <a:cubicBezTo>
                  <a:pt x="208359" y="7962"/>
                  <a:pt x="200397" y="0"/>
                  <a:pt x="190500" y="0"/>
                </a:cubicBezTo>
                <a:cubicBezTo>
                  <a:pt x="180603" y="0"/>
                  <a:pt x="172641" y="7962"/>
                  <a:pt x="172641" y="17859"/>
                </a:cubicBezTo>
                <a:lnTo>
                  <a:pt x="172641" y="47625"/>
                </a:lnTo>
                <a:lnTo>
                  <a:pt x="130969" y="47625"/>
                </a:lnTo>
                <a:lnTo>
                  <a:pt x="130969" y="17859"/>
                </a:lnTo>
                <a:close/>
                <a:moveTo>
                  <a:pt x="119063" y="95250"/>
                </a:moveTo>
                <a:lnTo>
                  <a:pt x="261938" y="95250"/>
                </a:lnTo>
                <a:cubicBezTo>
                  <a:pt x="275109" y="95250"/>
                  <a:pt x="285750" y="105891"/>
                  <a:pt x="285750" y="119063"/>
                </a:cubicBezTo>
                <a:lnTo>
                  <a:pt x="285750" y="261938"/>
                </a:lnTo>
                <a:cubicBezTo>
                  <a:pt x="285750" y="275109"/>
                  <a:pt x="275109" y="285750"/>
                  <a:pt x="261938" y="285750"/>
                </a:cubicBezTo>
                <a:lnTo>
                  <a:pt x="119063" y="285750"/>
                </a:lnTo>
                <a:cubicBezTo>
                  <a:pt x="105891" y="285750"/>
                  <a:pt x="95250" y="275109"/>
                  <a:pt x="95250" y="261938"/>
                </a:cubicBezTo>
                <a:lnTo>
                  <a:pt x="95250" y="119063"/>
                </a:lnTo>
                <a:cubicBezTo>
                  <a:pt x="95250" y="105891"/>
                  <a:pt x="105891" y="95250"/>
                  <a:pt x="119063" y="95250"/>
                </a:cubicBezTo>
                <a:close/>
                <a:moveTo>
                  <a:pt x="130969" y="130969"/>
                </a:moveTo>
                <a:lnTo>
                  <a:pt x="130969" y="250031"/>
                </a:lnTo>
                <a:lnTo>
                  <a:pt x="250031" y="250031"/>
                </a:lnTo>
                <a:lnTo>
                  <a:pt x="250031" y="130969"/>
                </a:lnTo>
                <a:lnTo>
                  <a:pt x="130969" y="130969"/>
                </a:lnTo>
                <a:close/>
              </a:path>
            </a:pathLst>
          </a:custGeom>
          <a:solidFill>
            <a:srgbClr val="00A896"/>
          </a:solidFill>
        </p:spPr>
      </p:sp>
      <p:sp>
        <p:nvSpPr>
          <p:cNvPr id="11" name="Text 9"/>
          <p:cNvSpPr/>
          <p:nvPr>
            <p:custDataLst>
              <p:tags r:id="rId5"/>
            </p:custDataLst>
          </p:nvPr>
        </p:nvSpPr>
        <p:spPr>
          <a:xfrm>
            <a:off x="1543050" y="4578350"/>
            <a:ext cx="24511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精力高峰时段</a:t>
            </a:r>
            <a:endParaRPr lang="en-US" sz="2400" b="1" dirty="0">
              <a:solidFill>
                <a:srgbClr val="F5F5F5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863600" y="5162550"/>
            <a:ext cx="7975600" cy="749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800" dirty="0">
                <a:solidFill>
                  <a:srgbClr val="F5F5F5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识别并利用个人精力最旺盛的时段进行关键任务处理。</a:t>
            </a:r>
            <a:endParaRPr lang="zh-CN" altLang="en-US" sz="1800" dirty="0">
              <a:solidFill>
                <a:srgbClr val="F5F5F5">
                  <a:alpha val="80000"/>
                </a:srgb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40000"/>
              </a:lnSpc>
            </a:pPr>
            <a:r>
              <a:rPr lang="zh-CN" altLang="en-US" sz="1800" dirty="0">
                <a:solidFill>
                  <a:srgbClr val="F5F5F5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通过监测和分析，确定一天中效率最高的时间段。</a:t>
            </a:r>
            <a:endParaRPr lang="zh-CN" altLang="en-US" sz="1800" dirty="0">
              <a:solidFill>
                <a:srgbClr val="F5F5F5">
                  <a:alpha val="80000"/>
                </a:srgb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40000"/>
              </a:lnSpc>
            </a:pPr>
            <a:r>
              <a:rPr lang="zh-CN" altLang="en-US" sz="1800" dirty="0">
                <a:solidFill>
                  <a:srgbClr val="F5F5F5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建议在精力高峰期安排需要高度专注的工作</a:t>
            </a:r>
            <a:r>
              <a:rPr lang="en-US" sz="1800" dirty="0">
                <a:solidFill>
                  <a:srgbClr val="F5F5F5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3400" y="6210300"/>
            <a:ext cx="50800" cy="1333500"/>
          </a:xfrm>
          <a:custGeom>
            <a:avLst/>
            <a:gdLst/>
            <a:ahLst/>
            <a:cxnLst/>
            <a:rect l="l" t="t" r="r" b="b"/>
            <a:pathLst>
              <a:path w="50800" h="1333500">
                <a:moveTo>
                  <a:pt x="0" y="0"/>
                </a:moveTo>
                <a:lnTo>
                  <a:pt x="50800" y="0"/>
                </a:lnTo>
                <a:lnTo>
                  <a:pt x="508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00A896"/>
          </a:solidFill>
        </p:spPr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914400" y="6261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193923" y="0"/>
                  <a:pt x="197346" y="744"/>
                  <a:pt x="200471" y="2158"/>
                </a:cubicBezTo>
                <a:lnTo>
                  <a:pt x="340668" y="61615"/>
                </a:lnTo>
                <a:cubicBezTo>
                  <a:pt x="357039" y="68535"/>
                  <a:pt x="369243" y="84683"/>
                  <a:pt x="369168" y="104180"/>
                </a:cubicBezTo>
                <a:cubicBezTo>
                  <a:pt x="368796" y="177998"/>
                  <a:pt x="338435" y="313060"/>
                  <a:pt x="210220" y="374452"/>
                </a:cubicBezTo>
                <a:cubicBezTo>
                  <a:pt x="197793" y="380405"/>
                  <a:pt x="183356" y="380405"/>
                  <a:pt x="170929" y="374452"/>
                </a:cubicBezTo>
                <a:cubicBezTo>
                  <a:pt x="42639" y="313060"/>
                  <a:pt x="12353" y="177998"/>
                  <a:pt x="11981" y="104180"/>
                </a:cubicBezTo>
                <a:cubicBezTo>
                  <a:pt x="11906" y="84683"/>
                  <a:pt x="24110" y="68535"/>
                  <a:pt x="40481" y="61615"/>
                </a:cubicBezTo>
                <a:lnTo>
                  <a:pt x="180603" y="2158"/>
                </a:lnTo>
                <a:cubicBezTo>
                  <a:pt x="183728" y="744"/>
                  <a:pt x="187077" y="0"/>
                  <a:pt x="190500" y="0"/>
                </a:cubicBezTo>
                <a:close/>
                <a:moveTo>
                  <a:pt x="190500" y="49709"/>
                </a:moveTo>
                <a:lnTo>
                  <a:pt x="190500" y="331068"/>
                </a:lnTo>
                <a:cubicBezTo>
                  <a:pt x="293191" y="281360"/>
                  <a:pt x="320799" y="171227"/>
                  <a:pt x="321469" y="105296"/>
                </a:cubicBezTo>
                <a:lnTo>
                  <a:pt x="190500" y="49783"/>
                </a:lnTo>
                <a:lnTo>
                  <a:pt x="190500" y="49783"/>
                </a:lnTo>
                <a:close/>
              </a:path>
            </a:pathLst>
          </a:custGeom>
          <a:solidFill>
            <a:srgbClr val="00A896"/>
          </a:solidFill>
        </p:spPr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1543050" y="6210300"/>
            <a:ext cx="3319145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  <a:buClrTx/>
              <a:buSzTx/>
              <a:buFontTx/>
            </a:pPr>
            <a:r>
              <a:rPr lang="en-US" sz="2400" b="1" dirty="0">
                <a:solidFill>
                  <a:srgbClr val="F5F5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对明天的精力管理建议</a:t>
            </a:r>
            <a:endParaRPr lang="en-US" sz="2400" b="1" dirty="0">
              <a:solidFill>
                <a:srgbClr val="F5F5F5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863600" y="6794500"/>
            <a:ext cx="7975600" cy="749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800" dirty="0">
                <a:solidFill>
                  <a:srgbClr val="F5F5F5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设定明确的工作目标，以提高专注力和工作效率。</a:t>
            </a:r>
            <a:endParaRPr lang="zh-CN" altLang="en-US" sz="1800" dirty="0">
              <a:solidFill>
                <a:srgbClr val="F5F5F5">
                  <a:alpha val="80000"/>
                </a:srgb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6900" y="7740650"/>
            <a:ext cx="38227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5028" y="4673600"/>
            <a:ext cx="2095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774628" y="5283200"/>
            <a:ext cx="3225800" cy="711200"/>
          </a:xfrm>
          <a:prstGeom prst="rect">
            <a:avLst/>
          </a:prstGeom>
          <a:noFill/>
        </p:spPr>
        <p:txBody>
          <a:bodyPr wrap="square" lIns="406400" tIns="0" rIns="40640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pic>
        <p:nvPicPr>
          <p:cNvPr id="27" name="图片 26" descr="2b20f1d95515943c5b2882c56f6c10f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5700" y="2458720"/>
            <a:ext cx="7223760" cy="399161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6040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812800" h="50800">
                <a:moveTo>
                  <a:pt x="0" y="0"/>
                </a:moveTo>
                <a:lnTo>
                  <a:pt x="812800" y="0"/>
                </a:lnTo>
                <a:lnTo>
                  <a:pt x="81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00A896"/>
          </a:solidFill>
        </p:spPr>
      </p:sp>
      <p:sp>
        <p:nvSpPr>
          <p:cNvPr id="3" name="Text 1"/>
          <p:cNvSpPr/>
          <p:nvPr/>
        </p:nvSpPr>
        <p:spPr>
          <a:xfrm>
            <a:off x="1473200" y="508000"/>
            <a:ext cx="3238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kern="0" spc="90" dirty="0">
                <a:solidFill>
                  <a:srgbClr val="00A8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Real-time Intervention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16000"/>
            <a:ext cx="1554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5F5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毒舌人格包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1930400"/>
            <a:ext cx="50800" cy="1714500"/>
          </a:xfrm>
          <a:custGeom>
            <a:avLst/>
            <a:gdLst/>
            <a:ahLst/>
            <a:cxnLst/>
            <a:rect l="l" t="t" r="r" b="b"/>
            <a:pathLst>
              <a:path w="50800" h="1714500">
                <a:moveTo>
                  <a:pt x="0" y="0"/>
                </a:moveTo>
                <a:lnTo>
                  <a:pt x="50800" y="0"/>
                </a:lnTo>
                <a:lnTo>
                  <a:pt x="508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rgbClr val="00A896"/>
          </a:solidFill>
        </p:spPr>
      </p:sp>
      <p:sp>
        <p:nvSpPr>
          <p:cNvPr id="6" name="Shape 4"/>
          <p:cNvSpPr/>
          <p:nvPr/>
        </p:nvSpPr>
        <p:spPr>
          <a:xfrm>
            <a:off x="863600" y="19304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00A896"/>
          </a:solidFill>
        </p:spPr>
      </p:sp>
      <p:sp>
        <p:nvSpPr>
          <p:cNvPr id="7" name="Text 5"/>
          <p:cNvSpPr/>
          <p:nvPr/>
        </p:nvSpPr>
        <p:spPr>
          <a:xfrm>
            <a:off x="1155303" y="2108200"/>
            <a:ext cx="4191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1A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&lt;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79600" y="2108200"/>
            <a:ext cx="1905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5F5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EAR &lt; 0.2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3600" y="2895600"/>
            <a:ext cx="7226300" cy="749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5F5F5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当眼部纵横比 (EAR) 低于 0.2 阈值时，系统自动触发毒舌提醒，精准捕捉疲劳瞬间。</a:t>
            </a:r>
            <a:endParaRPr lang="en-US" sz="1600" dirty="0"/>
          </a:p>
        </p:txBody>
      </p:sp>
      <p:sp>
        <p:nvSpPr>
          <p:cNvPr id="10" name="Shape 8"/>
          <p:cNvSpPr/>
          <p:nvPr>
            <p:custDataLst>
              <p:tags r:id="rId1"/>
            </p:custDataLst>
          </p:nvPr>
        </p:nvSpPr>
        <p:spPr>
          <a:xfrm>
            <a:off x="512233" y="3947583"/>
            <a:ext cx="2345267" cy="2192867"/>
          </a:xfrm>
          <a:custGeom>
            <a:avLst/>
            <a:gdLst/>
            <a:ahLst/>
            <a:cxnLst/>
            <a:rect l="l" t="t" r="r" b="b"/>
            <a:pathLst>
              <a:path w="2345267" h="2192867">
                <a:moveTo>
                  <a:pt x="101596" y="0"/>
                </a:moveTo>
                <a:lnTo>
                  <a:pt x="2243671" y="0"/>
                </a:lnTo>
                <a:cubicBezTo>
                  <a:pt x="2299781" y="0"/>
                  <a:pt x="2345267" y="45486"/>
                  <a:pt x="2345267" y="101596"/>
                </a:cubicBezTo>
                <a:lnTo>
                  <a:pt x="2345267" y="2091271"/>
                </a:lnTo>
                <a:cubicBezTo>
                  <a:pt x="2345267" y="2147381"/>
                  <a:pt x="2299781" y="2192867"/>
                  <a:pt x="2243671" y="2192867"/>
                </a:cubicBezTo>
                <a:lnTo>
                  <a:pt x="101596" y="2192867"/>
                </a:lnTo>
                <a:cubicBezTo>
                  <a:pt x="45486" y="2192867"/>
                  <a:pt x="0" y="2147381"/>
                  <a:pt x="0" y="2091271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2C2C2E">
              <a:alpha val="50196"/>
            </a:srgbClr>
          </a:solidFill>
          <a:ln w="8467">
            <a:solidFill>
              <a:srgbClr val="4E4E50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>
            <p:custDataLst>
              <p:tags r:id="rId2"/>
            </p:custDataLst>
          </p:nvPr>
        </p:nvSpPr>
        <p:spPr>
          <a:xfrm>
            <a:off x="1484842" y="4205818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143321" y="-23574"/>
                </a:moveTo>
                <a:cubicBezTo>
                  <a:pt x="151626" y="-30540"/>
                  <a:pt x="163860" y="-30272"/>
                  <a:pt x="171807" y="-22771"/>
                </a:cubicBezTo>
                <a:cubicBezTo>
                  <a:pt x="182791" y="-12412"/>
                  <a:pt x="192613" y="-982"/>
                  <a:pt x="202079" y="10626"/>
                </a:cubicBezTo>
                <a:cubicBezTo>
                  <a:pt x="214134" y="25360"/>
                  <a:pt x="228600" y="44827"/>
                  <a:pt x="242530" y="67955"/>
                </a:cubicBezTo>
                <a:cubicBezTo>
                  <a:pt x="247174" y="61883"/>
                  <a:pt x="251460" y="56525"/>
                  <a:pt x="255210" y="51971"/>
                </a:cubicBezTo>
                <a:cubicBezTo>
                  <a:pt x="256193" y="50810"/>
                  <a:pt x="257175" y="49560"/>
                  <a:pt x="258157" y="48310"/>
                </a:cubicBezTo>
                <a:cubicBezTo>
                  <a:pt x="265212" y="39559"/>
                  <a:pt x="273963" y="28575"/>
                  <a:pt x="285661" y="28575"/>
                </a:cubicBezTo>
                <a:cubicBezTo>
                  <a:pt x="297626" y="28575"/>
                  <a:pt x="306020" y="39201"/>
                  <a:pt x="313164" y="48310"/>
                </a:cubicBezTo>
                <a:cubicBezTo>
                  <a:pt x="314325" y="49828"/>
                  <a:pt x="315486" y="51256"/>
                  <a:pt x="316647" y="52596"/>
                </a:cubicBezTo>
                <a:cubicBezTo>
                  <a:pt x="325844" y="63669"/>
                  <a:pt x="338078" y="79653"/>
                  <a:pt x="350312" y="99387"/>
                </a:cubicBezTo>
                <a:cubicBezTo>
                  <a:pt x="374600" y="138589"/>
                  <a:pt x="399961" y="194399"/>
                  <a:pt x="399961" y="257086"/>
                </a:cubicBezTo>
                <a:cubicBezTo>
                  <a:pt x="399961" y="367546"/>
                  <a:pt x="310396" y="457111"/>
                  <a:pt x="199936" y="457111"/>
                </a:cubicBezTo>
                <a:cubicBezTo>
                  <a:pt x="89475" y="457111"/>
                  <a:pt x="0" y="367635"/>
                  <a:pt x="0" y="257175"/>
                </a:cubicBezTo>
                <a:cubicBezTo>
                  <a:pt x="0" y="175826"/>
                  <a:pt x="36701" y="105370"/>
                  <a:pt x="71884" y="56257"/>
                </a:cubicBezTo>
                <a:cubicBezTo>
                  <a:pt x="89654" y="31522"/>
                  <a:pt x="107335" y="11698"/>
                  <a:pt x="120640" y="-1875"/>
                </a:cubicBezTo>
                <a:cubicBezTo>
                  <a:pt x="127962" y="-9376"/>
                  <a:pt x="135374" y="-16788"/>
                  <a:pt x="143411" y="-23485"/>
                </a:cubicBezTo>
                <a:close/>
                <a:moveTo>
                  <a:pt x="201543" y="371475"/>
                </a:moveTo>
                <a:cubicBezTo>
                  <a:pt x="224135" y="371475"/>
                  <a:pt x="244138" y="365224"/>
                  <a:pt x="262979" y="352723"/>
                </a:cubicBezTo>
                <a:cubicBezTo>
                  <a:pt x="300573" y="326469"/>
                  <a:pt x="310664" y="273963"/>
                  <a:pt x="288072" y="232708"/>
                </a:cubicBezTo>
                <a:cubicBezTo>
                  <a:pt x="284053" y="224671"/>
                  <a:pt x="273784" y="224135"/>
                  <a:pt x="267980" y="230922"/>
                </a:cubicBezTo>
                <a:lnTo>
                  <a:pt x="245477" y="257086"/>
                </a:lnTo>
                <a:cubicBezTo>
                  <a:pt x="239584" y="263872"/>
                  <a:pt x="228957" y="263694"/>
                  <a:pt x="223421" y="256639"/>
                </a:cubicBezTo>
                <a:cubicBezTo>
                  <a:pt x="207972" y="236905"/>
                  <a:pt x="179576" y="200918"/>
                  <a:pt x="165110" y="182523"/>
                </a:cubicBezTo>
                <a:cubicBezTo>
                  <a:pt x="160288" y="176361"/>
                  <a:pt x="151537" y="175379"/>
                  <a:pt x="145911" y="180826"/>
                </a:cubicBezTo>
                <a:cubicBezTo>
                  <a:pt x="129570" y="196721"/>
                  <a:pt x="99923" y="231547"/>
                  <a:pt x="99923" y="273963"/>
                </a:cubicBezTo>
                <a:cubicBezTo>
                  <a:pt x="99923" y="335220"/>
                  <a:pt x="145107" y="371475"/>
                  <a:pt x="201454" y="371475"/>
                </a:cubicBezTo>
                <a:close/>
              </a:path>
            </a:pathLst>
          </a:custGeom>
          <a:solidFill>
            <a:srgbClr val="00A896"/>
          </a:solidFill>
        </p:spPr>
      </p:sp>
      <p:sp>
        <p:nvSpPr>
          <p:cNvPr id="12" name="Text 10"/>
          <p:cNvSpPr/>
          <p:nvPr>
            <p:custDataLst>
              <p:tags r:id="rId3"/>
            </p:custDataLst>
          </p:nvPr>
        </p:nvSpPr>
        <p:spPr>
          <a:xfrm>
            <a:off x="706967" y="4815418"/>
            <a:ext cx="1955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5F5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毒舌模式</a:t>
            </a:r>
            <a:endParaRPr lang="en-US" sz="1600" dirty="0"/>
          </a:p>
        </p:txBody>
      </p:sp>
      <p:sp>
        <p:nvSpPr>
          <p:cNvPr id="13" name="Text 11"/>
          <p:cNvSpPr/>
          <p:nvPr>
            <p:custDataLst>
              <p:tags r:id="rId4"/>
            </p:custDataLst>
          </p:nvPr>
        </p:nvSpPr>
        <p:spPr>
          <a:xfrm>
            <a:off x="719667" y="5272618"/>
            <a:ext cx="19304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犀利吐槽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直击灵魂</a:t>
            </a:r>
            <a:endParaRPr lang="en-US" sz="1600" dirty="0"/>
          </a:p>
        </p:txBody>
      </p:sp>
      <p:sp>
        <p:nvSpPr>
          <p:cNvPr id="14" name="Shape 12"/>
          <p:cNvSpPr/>
          <p:nvPr>
            <p:custDataLst>
              <p:tags r:id="rId5"/>
            </p:custDataLst>
          </p:nvPr>
        </p:nvSpPr>
        <p:spPr>
          <a:xfrm>
            <a:off x="3069167" y="3947583"/>
            <a:ext cx="2345267" cy="2192867"/>
          </a:xfrm>
          <a:custGeom>
            <a:avLst/>
            <a:gdLst/>
            <a:ahLst/>
            <a:cxnLst/>
            <a:rect l="l" t="t" r="r" b="b"/>
            <a:pathLst>
              <a:path w="2345267" h="2192867">
                <a:moveTo>
                  <a:pt x="101596" y="0"/>
                </a:moveTo>
                <a:lnTo>
                  <a:pt x="2243671" y="0"/>
                </a:lnTo>
                <a:cubicBezTo>
                  <a:pt x="2299781" y="0"/>
                  <a:pt x="2345267" y="45486"/>
                  <a:pt x="2345267" y="101596"/>
                </a:cubicBezTo>
                <a:lnTo>
                  <a:pt x="2345267" y="2091271"/>
                </a:lnTo>
                <a:cubicBezTo>
                  <a:pt x="2345267" y="2147381"/>
                  <a:pt x="2299781" y="2192867"/>
                  <a:pt x="2243671" y="2192867"/>
                </a:cubicBezTo>
                <a:lnTo>
                  <a:pt x="101596" y="2192867"/>
                </a:lnTo>
                <a:cubicBezTo>
                  <a:pt x="45486" y="2192867"/>
                  <a:pt x="0" y="2147381"/>
                  <a:pt x="0" y="2091271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2C2C2E">
              <a:alpha val="50196"/>
            </a:srgbClr>
          </a:solidFill>
          <a:ln w="8467">
            <a:solidFill>
              <a:srgbClr val="4E4E50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>
            <p:custDataLst>
              <p:tags r:id="rId6"/>
            </p:custDataLst>
          </p:nvPr>
        </p:nvSpPr>
        <p:spPr>
          <a:xfrm>
            <a:off x="4013200" y="42058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15205" y="77778"/>
                </a:moveTo>
                <a:lnTo>
                  <a:pt x="228600" y="96262"/>
                </a:lnTo>
                <a:lnTo>
                  <a:pt x="241995" y="77778"/>
                </a:lnTo>
                <a:cubicBezTo>
                  <a:pt x="264319" y="46881"/>
                  <a:pt x="300216" y="28575"/>
                  <a:pt x="338346" y="28575"/>
                </a:cubicBezTo>
                <a:cubicBezTo>
                  <a:pt x="403979" y="28575"/>
                  <a:pt x="457200" y="81796"/>
                  <a:pt x="457200" y="147429"/>
                </a:cubicBezTo>
                <a:lnTo>
                  <a:pt x="457200" y="149751"/>
                </a:lnTo>
                <a:cubicBezTo>
                  <a:pt x="457200" y="249942"/>
                  <a:pt x="332274" y="366296"/>
                  <a:pt x="267087" y="416034"/>
                </a:cubicBezTo>
                <a:cubicBezTo>
                  <a:pt x="256014" y="424428"/>
                  <a:pt x="242441" y="428625"/>
                  <a:pt x="228600" y="428625"/>
                </a:cubicBezTo>
                <a:cubicBezTo>
                  <a:pt x="214759" y="428625"/>
                  <a:pt x="201097" y="424517"/>
                  <a:pt x="190113" y="416034"/>
                </a:cubicBezTo>
                <a:cubicBezTo>
                  <a:pt x="124926" y="366296"/>
                  <a:pt x="0" y="249942"/>
                  <a:pt x="0" y="149751"/>
                </a:cubicBezTo>
                <a:lnTo>
                  <a:pt x="0" y="147429"/>
                </a:lnTo>
                <a:cubicBezTo>
                  <a:pt x="0" y="81796"/>
                  <a:pt x="53221" y="28575"/>
                  <a:pt x="118854" y="28575"/>
                </a:cubicBezTo>
                <a:cubicBezTo>
                  <a:pt x="156984" y="28575"/>
                  <a:pt x="192881" y="46881"/>
                  <a:pt x="215205" y="77778"/>
                </a:cubicBezTo>
                <a:close/>
              </a:path>
            </a:pathLst>
          </a:custGeom>
          <a:solidFill>
            <a:srgbClr val="00A896"/>
          </a:solidFill>
        </p:spPr>
      </p:sp>
      <p:sp>
        <p:nvSpPr>
          <p:cNvPr id="16" name="Text 14"/>
          <p:cNvSpPr/>
          <p:nvPr>
            <p:custDataLst>
              <p:tags r:id="rId7"/>
            </p:custDataLst>
          </p:nvPr>
        </p:nvSpPr>
        <p:spPr>
          <a:xfrm>
            <a:off x="3263900" y="4815418"/>
            <a:ext cx="1955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5F5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温柔模式</a:t>
            </a:r>
            <a:endParaRPr lang="en-US" sz="1600" dirty="0"/>
          </a:p>
        </p:txBody>
      </p:sp>
      <p:sp>
        <p:nvSpPr>
          <p:cNvPr id="17" name="Text 15"/>
          <p:cNvSpPr/>
          <p:nvPr>
            <p:custDataLst>
              <p:tags r:id="rId8"/>
            </p:custDataLst>
          </p:nvPr>
        </p:nvSpPr>
        <p:spPr>
          <a:xfrm>
            <a:off x="3276600" y="5272618"/>
            <a:ext cx="19304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暖心提醒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关怀备至</a:t>
            </a:r>
            <a:endParaRPr lang="en-US" sz="1600" dirty="0"/>
          </a:p>
        </p:txBody>
      </p:sp>
      <p:sp>
        <p:nvSpPr>
          <p:cNvPr id="18" name="Shape 16"/>
          <p:cNvSpPr/>
          <p:nvPr>
            <p:custDataLst>
              <p:tags r:id="rId9"/>
            </p:custDataLst>
          </p:nvPr>
        </p:nvSpPr>
        <p:spPr>
          <a:xfrm>
            <a:off x="5626100" y="3947583"/>
            <a:ext cx="2345267" cy="2192867"/>
          </a:xfrm>
          <a:custGeom>
            <a:avLst/>
            <a:gdLst/>
            <a:ahLst/>
            <a:cxnLst/>
            <a:rect l="l" t="t" r="r" b="b"/>
            <a:pathLst>
              <a:path w="2345267" h="2192867">
                <a:moveTo>
                  <a:pt x="101596" y="0"/>
                </a:moveTo>
                <a:lnTo>
                  <a:pt x="2243671" y="0"/>
                </a:lnTo>
                <a:cubicBezTo>
                  <a:pt x="2299781" y="0"/>
                  <a:pt x="2345267" y="45486"/>
                  <a:pt x="2345267" y="101596"/>
                </a:cubicBezTo>
                <a:lnTo>
                  <a:pt x="2345267" y="2091271"/>
                </a:lnTo>
                <a:cubicBezTo>
                  <a:pt x="2345267" y="2147381"/>
                  <a:pt x="2299781" y="2192867"/>
                  <a:pt x="2243671" y="2192867"/>
                </a:cubicBezTo>
                <a:lnTo>
                  <a:pt x="101596" y="2192867"/>
                </a:lnTo>
                <a:cubicBezTo>
                  <a:pt x="45486" y="2192867"/>
                  <a:pt x="0" y="2147381"/>
                  <a:pt x="0" y="2091271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2C2C2E">
              <a:alpha val="50196"/>
            </a:srgbClr>
          </a:solidFill>
          <a:ln w="8467">
            <a:solidFill>
              <a:srgbClr val="4E4E50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>
            <p:custDataLst>
              <p:tags r:id="rId10"/>
            </p:custDataLst>
          </p:nvPr>
        </p:nvSpPr>
        <p:spPr>
          <a:xfrm>
            <a:off x="6570134" y="42058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55848" y="10894"/>
                </a:moveTo>
                <a:lnTo>
                  <a:pt x="277088" y="89654"/>
                </a:lnTo>
                <a:lnTo>
                  <a:pt x="367546" y="180112"/>
                </a:lnTo>
                <a:lnTo>
                  <a:pt x="446306" y="101352"/>
                </a:lnTo>
                <a:cubicBezTo>
                  <a:pt x="453271" y="94298"/>
                  <a:pt x="457200" y="84832"/>
                  <a:pt x="457200" y="75009"/>
                </a:cubicBezTo>
                <a:cubicBezTo>
                  <a:pt x="457200" y="65187"/>
                  <a:pt x="453271" y="55721"/>
                  <a:pt x="446306" y="48667"/>
                </a:cubicBezTo>
                <a:lnTo>
                  <a:pt x="408533" y="10894"/>
                </a:lnTo>
                <a:cubicBezTo>
                  <a:pt x="401479" y="3929"/>
                  <a:pt x="392013" y="0"/>
                  <a:pt x="382191" y="0"/>
                </a:cubicBezTo>
                <a:cubicBezTo>
                  <a:pt x="372368" y="0"/>
                  <a:pt x="362903" y="3929"/>
                  <a:pt x="355848" y="10894"/>
                </a:cubicBezTo>
                <a:close/>
                <a:moveTo>
                  <a:pt x="246817" y="119926"/>
                </a:moveTo>
                <a:lnTo>
                  <a:pt x="10894" y="355848"/>
                </a:lnTo>
                <a:cubicBezTo>
                  <a:pt x="3929" y="362903"/>
                  <a:pt x="0" y="372368"/>
                  <a:pt x="0" y="382191"/>
                </a:cubicBezTo>
                <a:cubicBezTo>
                  <a:pt x="0" y="392013"/>
                  <a:pt x="3929" y="401479"/>
                  <a:pt x="10894" y="408533"/>
                </a:cubicBezTo>
                <a:lnTo>
                  <a:pt x="48667" y="446306"/>
                </a:lnTo>
                <a:cubicBezTo>
                  <a:pt x="55721" y="453271"/>
                  <a:pt x="65187" y="457200"/>
                  <a:pt x="75009" y="457200"/>
                </a:cubicBezTo>
                <a:cubicBezTo>
                  <a:pt x="84832" y="457200"/>
                  <a:pt x="94298" y="453271"/>
                  <a:pt x="101352" y="446306"/>
                </a:cubicBezTo>
                <a:lnTo>
                  <a:pt x="337274" y="210383"/>
                </a:lnTo>
                <a:lnTo>
                  <a:pt x="246817" y="119926"/>
                </a:lnTo>
                <a:close/>
              </a:path>
            </a:pathLst>
          </a:custGeom>
          <a:solidFill>
            <a:srgbClr val="00A896"/>
          </a:solidFill>
        </p:spPr>
      </p:sp>
      <p:sp>
        <p:nvSpPr>
          <p:cNvPr id="20" name="Text 18"/>
          <p:cNvSpPr/>
          <p:nvPr>
            <p:custDataLst>
              <p:tags r:id="rId11"/>
            </p:custDataLst>
          </p:nvPr>
        </p:nvSpPr>
        <p:spPr>
          <a:xfrm>
            <a:off x="5820833" y="4815418"/>
            <a:ext cx="1955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2000" b="1" dirty="0">
                <a:solidFill>
                  <a:srgbClr val="F5F5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趣味话语</a:t>
            </a:r>
            <a:endParaRPr lang="zh-CN" altLang="en-US" sz="2000" b="1" dirty="0">
              <a:solidFill>
                <a:srgbClr val="F5F5F5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1" name="Text 19"/>
          <p:cNvSpPr/>
          <p:nvPr>
            <p:custDataLst>
              <p:tags r:id="rId12"/>
            </p:custDataLst>
          </p:nvPr>
        </p:nvSpPr>
        <p:spPr>
          <a:xfrm>
            <a:off x="5833533" y="5272618"/>
            <a:ext cx="19304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600" dirty="0">
                <a:solidFill>
                  <a:srgbClr val="F5F5F5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随机吐槽</a:t>
            </a:r>
            <a:endParaRPr lang="zh-CN" altLang="en-US" sz="1600" dirty="0">
              <a:solidFill>
                <a:srgbClr val="F5F5F5">
                  <a:alpha val="60000"/>
                </a:srgb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趣味横生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557000" y="3924300"/>
            <a:ext cx="914400" cy="1219200"/>
          </a:xfrm>
          <a:custGeom>
            <a:avLst/>
            <a:gdLst/>
            <a:ahLst/>
            <a:cxnLst/>
            <a:rect l="l" t="t" r="r" b="b"/>
            <a:pathLst>
              <a:path w="914400" h="1219200">
                <a:moveTo>
                  <a:pt x="38100" y="152400"/>
                </a:moveTo>
                <a:cubicBezTo>
                  <a:pt x="38100" y="68342"/>
                  <a:pt x="106442" y="0"/>
                  <a:pt x="190500" y="0"/>
                </a:cubicBezTo>
                <a:lnTo>
                  <a:pt x="723900" y="0"/>
                </a:lnTo>
                <a:cubicBezTo>
                  <a:pt x="807958" y="0"/>
                  <a:pt x="876300" y="68342"/>
                  <a:pt x="876300" y="152400"/>
                </a:cubicBezTo>
                <a:lnTo>
                  <a:pt x="876300" y="1066800"/>
                </a:lnTo>
                <a:cubicBezTo>
                  <a:pt x="876300" y="1150858"/>
                  <a:pt x="807958" y="1219200"/>
                  <a:pt x="723900" y="1219200"/>
                </a:cubicBezTo>
                <a:lnTo>
                  <a:pt x="190500" y="1219200"/>
                </a:lnTo>
                <a:cubicBezTo>
                  <a:pt x="106442" y="1219200"/>
                  <a:pt x="38100" y="1150858"/>
                  <a:pt x="38100" y="1066800"/>
                </a:cubicBezTo>
                <a:lnTo>
                  <a:pt x="38100" y="152400"/>
                </a:lnTo>
                <a:close/>
                <a:moveTo>
                  <a:pt x="190500" y="152400"/>
                </a:moveTo>
                <a:lnTo>
                  <a:pt x="190500" y="876300"/>
                </a:lnTo>
                <a:lnTo>
                  <a:pt x="723900" y="876300"/>
                </a:lnTo>
                <a:lnTo>
                  <a:pt x="723900" y="152400"/>
                </a:lnTo>
                <a:lnTo>
                  <a:pt x="190500" y="152400"/>
                </a:lnTo>
                <a:close/>
                <a:moveTo>
                  <a:pt x="457200" y="1123950"/>
                </a:moveTo>
                <a:cubicBezTo>
                  <a:pt x="499348" y="1123950"/>
                  <a:pt x="533400" y="1089898"/>
                  <a:pt x="533400" y="1047750"/>
                </a:cubicBezTo>
                <a:cubicBezTo>
                  <a:pt x="533400" y="1005602"/>
                  <a:pt x="499348" y="971550"/>
                  <a:pt x="457200" y="971550"/>
                </a:cubicBezTo>
                <a:cubicBezTo>
                  <a:pt x="415052" y="971550"/>
                  <a:pt x="381000" y="1005602"/>
                  <a:pt x="381000" y="1047750"/>
                </a:cubicBezTo>
                <a:cubicBezTo>
                  <a:pt x="381000" y="1089898"/>
                  <a:pt x="415052" y="1123950"/>
                  <a:pt x="457200" y="1123950"/>
                </a:cubicBezTo>
                <a:close/>
              </a:path>
            </a:pathLst>
          </a:custGeom>
          <a:solidFill>
            <a:srgbClr val="00A896"/>
          </a:solidFill>
        </p:spPr>
      </p:sp>
      <p:sp>
        <p:nvSpPr>
          <p:cNvPr id="29" name="Text 27"/>
          <p:cNvSpPr/>
          <p:nvPr/>
        </p:nvSpPr>
        <p:spPr>
          <a:xfrm>
            <a:off x="10783888" y="5346700"/>
            <a:ext cx="2463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dirty="0">
                <a:solidFill>
                  <a:srgbClr val="F5F5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界面占位框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815638" y="6007100"/>
            <a:ext cx="2400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5F5F5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飞书群卡片 Mockup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821988" y="6565900"/>
            <a:ext cx="23876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F5F5F5">
                    <a:alpha val="5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(现成原型图)</a:t>
            </a:r>
            <a:endParaRPr lang="en-US" sz="1600" dirty="0"/>
          </a:p>
        </p:txBody>
      </p:sp>
      <p:pic>
        <p:nvPicPr>
          <p:cNvPr id="32" name="图片 31" descr="fa33df36a0260a2e8448b23f6e1ba14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93100" y="35560"/>
            <a:ext cx="7431405" cy="363410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81670" y="3644900"/>
            <a:ext cx="7442835" cy="4021455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8000" y="6179820"/>
            <a:ext cx="3766185" cy="2114550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74185" y="6179820"/>
            <a:ext cx="3738880" cy="211709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unsplash.com/ccb947c51723985dad438b59fd10cb8486510c48"/>
          <p:cNvPicPr>
            <a:picLocks noChangeAspect="1"/>
          </p:cNvPicPr>
          <p:nvPr/>
        </p:nvPicPr>
        <p:blipFill>
          <a:blip r:embed="rId1">
            <a:alphaModFix amt="30000"/>
          </a:blip>
          <a:srcRect t="9081" b="9081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13462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A1D">
                  <a:alpha val="95000"/>
                </a:srgbClr>
              </a:gs>
              <a:gs pos="50000">
                <a:srgbClr val="1A1A1D">
                  <a:alpha val="90000"/>
                </a:srgbClr>
              </a:gs>
              <a:gs pos="100000">
                <a:srgbClr val="1A1A1D">
                  <a:alpha val="85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08000" y="86360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812800" h="50800">
                <a:moveTo>
                  <a:pt x="0" y="0"/>
                </a:moveTo>
                <a:lnTo>
                  <a:pt x="812800" y="0"/>
                </a:lnTo>
                <a:lnTo>
                  <a:pt x="81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00A896"/>
          </a:solidFill>
        </p:spPr>
      </p:sp>
      <p:sp>
        <p:nvSpPr>
          <p:cNvPr id="5" name="Text 2"/>
          <p:cNvSpPr/>
          <p:nvPr/>
        </p:nvSpPr>
        <p:spPr>
          <a:xfrm>
            <a:off x="1473200" y="711200"/>
            <a:ext cx="30226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kern="0" spc="90" dirty="0">
                <a:solidFill>
                  <a:srgbClr val="00A8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Integration Roadmap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1219200"/>
            <a:ext cx="9525000" cy="952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F5F5F5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EXE → 微信/飞书/钉钉小程序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3400" y="2476500"/>
            <a:ext cx="9118600" cy="1422400"/>
          </a:xfrm>
          <a:custGeom>
            <a:avLst/>
            <a:gdLst/>
            <a:ahLst/>
            <a:cxnLst/>
            <a:rect l="l" t="t" r="r" b="b"/>
            <a:pathLst>
              <a:path w="9118600" h="1422400">
                <a:moveTo>
                  <a:pt x="50800" y="0"/>
                </a:moveTo>
                <a:lnTo>
                  <a:pt x="8966204" y="0"/>
                </a:lnTo>
                <a:cubicBezTo>
                  <a:pt x="9050370" y="0"/>
                  <a:pt x="9118600" y="68230"/>
                  <a:pt x="9118600" y="152396"/>
                </a:cubicBezTo>
                <a:lnTo>
                  <a:pt x="9118600" y="1270004"/>
                </a:lnTo>
                <a:cubicBezTo>
                  <a:pt x="9118600" y="1354170"/>
                  <a:pt x="9050370" y="1422400"/>
                  <a:pt x="8966204" y="1422400"/>
                </a:cubicBezTo>
                <a:lnTo>
                  <a:pt x="50800" y="1422400"/>
                </a:lnTo>
                <a:cubicBezTo>
                  <a:pt x="22744" y="1422400"/>
                  <a:pt x="0" y="1399656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C2C2E">
              <a:alpha val="50196"/>
            </a:srgbClr>
          </a:solidFill>
        </p:spPr>
      </p:sp>
      <p:sp>
        <p:nvSpPr>
          <p:cNvPr id="8" name="Shape 5"/>
          <p:cNvSpPr/>
          <p:nvPr/>
        </p:nvSpPr>
        <p:spPr>
          <a:xfrm>
            <a:off x="533400" y="247650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5080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00A896"/>
          </a:solidFill>
        </p:spPr>
      </p:sp>
      <p:sp>
        <p:nvSpPr>
          <p:cNvPr id="9" name="Shape 6"/>
          <p:cNvSpPr/>
          <p:nvPr/>
        </p:nvSpPr>
        <p:spPr>
          <a:xfrm>
            <a:off x="812800" y="27305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01600" y="0"/>
                </a:moveTo>
                <a:lnTo>
                  <a:pt x="711200" y="0"/>
                </a:lnTo>
                <a:cubicBezTo>
                  <a:pt x="767275" y="0"/>
                  <a:pt x="812800" y="45525"/>
                  <a:pt x="812800" y="101600"/>
                </a:cubicBezTo>
                <a:lnTo>
                  <a:pt x="812800" y="711200"/>
                </a:lnTo>
                <a:cubicBezTo>
                  <a:pt x="812800" y="767275"/>
                  <a:pt x="767275" y="812800"/>
                  <a:pt x="7112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0A896"/>
          </a:solidFill>
        </p:spPr>
      </p:sp>
      <p:sp>
        <p:nvSpPr>
          <p:cNvPr id="10" name="Text 7"/>
          <p:cNvSpPr/>
          <p:nvPr/>
        </p:nvSpPr>
        <p:spPr>
          <a:xfrm>
            <a:off x="963083" y="2908300"/>
            <a:ext cx="698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1A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9600" y="2730500"/>
            <a:ext cx="64897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5F5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插件化 SDK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879600" y="3289300"/>
            <a:ext cx="6413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5F5F5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核心检测模块 SDK 化，支持快速集成至各类应用与硬件平台。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33400" y="4152900"/>
            <a:ext cx="9118600" cy="1422400"/>
          </a:xfrm>
          <a:custGeom>
            <a:avLst/>
            <a:gdLst/>
            <a:ahLst/>
            <a:cxnLst/>
            <a:rect l="l" t="t" r="r" b="b"/>
            <a:pathLst>
              <a:path w="9118600" h="1422400">
                <a:moveTo>
                  <a:pt x="50800" y="0"/>
                </a:moveTo>
                <a:lnTo>
                  <a:pt x="8966204" y="0"/>
                </a:lnTo>
                <a:cubicBezTo>
                  <a:pt x="9050370" y="0"/>
                  <a:pt x="9118600" y="68230"/>
                  <a:pt x="9118600" y="152396"/>
                </a:cubicBezTo>
                <a:lnTo>
                  <a:pt x="9118600" y="1270004"/>
                </a:lnTo>
                <a:cubicBezTo>
                  <a:pt x="9118600" y="1354170"/>
                  <a:pt x="9050370" y="1422400"/>
                  <a:pt x="8966204" y="1422400"/>
                </a:cubicBezTo>
                <a:lnTo>
                  <a:pt x="50800" y="1422400"/>
                </a:lnTo>
                <a:cubicBezTo>
                  <a:pt x="22744" y="1422400"/>
                  <a:pt x="0" y="1399656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00A896">
              <a:alpha val="20000"/>
            </a:srgbClr>
          </a:solidFill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3400" y="415290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5080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00A896"/>
          </a:solidFill>
        </p:spPr>
      </p:sp>
      <p:sp>
        <p:nvSpPr>
          <p:cNvPr id="15" name="Shape 12"/>
          <p:cNvSpPr/>
          <p:nvPr/>
        </p:nvSpPr>
        <p:spPr>
          <a:xfrm>
            <a:off x="812800" y="44069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01600" y="0"/>
                </a:moveTo>
                <a:lnTo>
                  <a:pt x="711200" y="0"/>
                </a:lnTo>
                <a:cubicBezTo>
                  <a:pt x="767275" y="0"/>
                  <a:pt x="812800" y="45525"/>
                  <a:pt x="812800" y="101600"/>
                </a:cubicBezTo>
                <a:lnTo>
                  <a:pt x="812800" y="711200"/>
                </a:lnTo>
                <a:cubicBezTo>
                  <a:pt x="812800" y="767275"/>
                  <a:pt x="767275" y="812800"/>
                  <a:pt x="7112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0A896"/>
          </a:solidFill>
        </p:spPr>
      </p:sp>
      <p:sp>
        <p:nvSpPr>
          <p:cNvPr id="16" name="Text 13"/>
          <p:cNvSpPr/>
          <p:nvPr/>
        </p:nvSpPr>
        <p:spPr>
          <a:xfrm>
            <a:off x="930936" y="45847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1A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879600" y="4406900"/>
            <a:ext cx="67183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5F5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微信小程序 ⭐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879600" y="4965700"/>
            <a:ext cx="6642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5F5F5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开发微信小程序版本，覆盖移动端用户，支持好友间专注力 PK。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33400" y="5829300"/>
            <a:ext cx="9118600" cy="1422400"/>
          </a:xfrm>
          <a:custGeom>
            <a:avLst/>
            <a:gdLst/>
            <a:ahLst/>
            <a:cxnLst/>
            <a:rect l="l" t="t" r="r" b="b"/>
            <a:pathLst>
              <a:path w="9118600" h="1422400">
                <a:moveTo>
                  <a:pt x="50800" y="0"/>
                </a:moveTo>
                <a:lnTo>
                  <a:pt x="8966204" y="0"/>
                </a:lnTo>
                <a:cubicBezTo>
                  <a:pt x="9050370" y="0"/>
                  <a:pt x="9118600" y="68230"/>
                  <a:pt x="9118600" y="152396"/>
                </a:cubicBezTo>
                <a:lnTo>
                  <a:pt x="9118600" y="1270004"/>
                </a:lnTo>
                <a:cubicBezTo>
                  <a:pt x="9118600" y="1354170"/>
                  <a:pt x="9050370" y="1422400"/>
                  <a:pt x="8966204" y="1422400"/>
                </a:cubicBezTo>
                <a:lnTo>
                  <a:pt x="50800" y="1422400"/>
                </a:lnTo>
                <a:cubicBezTo>
                  <a:pt x="22744" y="1422400"/>
                  <a:pt x="0" y="1399656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C2C2E">
              <a:alpha val="50196"/>
            </a:srgbClr>
          </a:solidFill>
        </p:spPr>
      </p:sp>
      <p:sp>
        <p:nvSpPr>
          <p:cNvPr id="20" name="Shape 17"/>
          <p:cNvSpPr/>
          <p:nvPr/>
        </p:nvSpPr>
        <p:spPr>
          <a:xfrm>
            <a:off x="533400" y="582930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5080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00A896"/>
          </a:solidFill>
        </p:spPr>
      </p:sp>
      <p:sp>
        <p:nvSpPr>
          <p:cNvPr id="21" name="Shape 18"/>
          <p:cNvSpPr/>
          <p:nvPr/>
        </p:nvSpPr>
        <p:spPr>
          <a:xfrm>
            <a:off x="812800" y="60833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01600" y="0"/>
                </a:moveTo>
                <a:lnTo>
                  <a:pt x="711200" y="0"/>
                </a:lnTo>
                <a:cubicBezTo>
                  <a:pt x="767275" y="0"/>
                  <a:pt x="812800" y="45525"/>
                  <a:pt x="812800" y="101600"/>
                </a:cubicBezTo>
                <a:lnTo>
                  <a:pt x="812800" y="711200"/>
                </a:lnTo>
                <a:cubicBezTo>
                  <a:pt x="812800" y="767275"/>
                  <a:pt x="767275" y="812800"/>
                  <a:pt x="7112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0A896"/>
          </a:solidFill>
        </p:spPr>
      </p:sp>
      <p:sp>
        <p:nvSpPr>
          <p:cNvPr id="22" name="Text 19"/>
          <p:cNvSpPr/>
          <p:nvPr/>
        </p:nvSpPr>
        <p:spPr>
          <a:xfrm>
            <a:off x="925909" y="6261100"/>
            <a:ext cx="7747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1A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879600" y="6083300"/>
            <a:ext cx="58293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5F5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飞书/钉钉机器人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879600" y="6642100"/>
            <a:ext cx="5753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5F5F5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企业级 IM 集成，支持团队疲劳状态监控与自动化提醒。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24417" y="7463371"/>
            <a:ext cx="424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1647753" y="4292600"/>
            <a:ext cx="2108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1679503" y="4953000"/>
            <a:ext cx="2044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1990653" y="5816600"/>
            <a:ext cx="1422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37" name="文本框 36"/>
          <p:cNvSpPr txBox="1"/>
          <p:nvPr/>
        </p:nvSpPr>
        <p:spPr>
          <a:xfrm>
            <a:off x="10410190" y="3898900"/>
            <a:ext cx="5418455" cy="1722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9600">
                <a:solidFill>
                  <a:srgbClr val="00B0F0"/>
                </a:solidFill>
                <a:sym typeface="+mn-ea"/>
              </a:rPr>
              <a:t>后续</a:t>
            </a:r>
            <a:r>
              <a:rPr lang="zh-CN" altLang="en-US" sz="9600">
                <a:solidFill>
                  <a:srgbClr val="00B0F0"/>
                </a:solidFill>
                <a:sym typeface="+mn-ea"/>
              </a:rPr>
              <a:t>设计</a:t>
            </a:r>
            <a:endParaRPr lang="zh-CN" altLang="en-US" sz="9600">
              <a:solidFill>
                <a:srgbClr val="00B0F0"/>
              </a:solidFill>
              <a:sym typeface="+mn-ea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6840" y="2366010"/>
            <a:ext cx="5223510" cy="47885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362,&quot;left&quot;:68,&quot;top&quot;:232,&quot;width&quot;:628}"/>
</p:tagLst>
</file>

<file path=ppt/tags/tag2.xml><?xml version="1.0" encoding="utf-8"?>
<p:tagLst xmlns:p="http://schemas.openxmlformats.org/presentationml/2006/main">
  <p:tag name="KSO_WM_DIAGRAM_VIRTUALLY_FRAME" val="{&quot;height&quot;:362,&quot;left&quot;:68,&quot;top&quot;:232,&quot;width&quot;:628}"/>
</p:tagLst>
</file>

<file path=ppt/tags/tag3.xml><?xml version="1.0" encoding="utf-8"?>
<p:tagLst xmlns:p="http://schemas.openxmlformats.org/presentationml/2006/main">
  <p:tag name="KSO_WM_DIAGRAM_VIRTUALLY_FRAME" val="{&quot;height&quot;:362,&quot;left&quot;:68,&quot;top&quot;:232,&quot;width&quot;:628}"/>
</p:tagLst>
</file>

<file path=ppt/tags/tag4.xml><?xml version="1.0" encoding="utf-8"?>
<p:tagLst xmlns:p="http://schemas.openxmlformats.org/presentationml/2006/main">
  <p:tag name="KSO_WM_DIAGRAM_VIRTUALLY_FRAME" val="{&quot;height&quot;:362,&quot;left&quot;:68,&quot;top&quot;:232,&quot;width&quot;:628}"/>
</p:tagLst>
</file>

<file path=ppt/tags/tag5.xml><?xml version="1.0" encoding="utf-8"?>
<p:tagLst xmlns:p="http://schemas.openxmlformats.org/presentationml/2006/main">
  <p:tag name="KSO_WM_DIAGRAM_VIRTUALLY_FRAME" val="{&quot;height&quot;:362,&quot;left&quot;:68,&quot;top&quot;:232,&quot;width&quot;:628}"/>
</p:tagLst>
</file>

<file path=ppt/tags/tag6.xml><?xml version="1.0" encoding="utf-8"?>
<p:tagLst xmlns:p="http://schemas.openxmlformats.org/presentationml/2006/main">
  <p:tag name="KSO_WM_DIAGRAM_VIRTUALLY_FRAME" val="{&quot;height&quot;:362,&quot;left&quot;:68,&quot;top&quot;:232,&quot;width&quot;:628}"/>
</p:tagLst>
</file>

<file path=ppt/tags/tag7.xml><?xml version="1.0" encoding="utf-8"?>
<p:tagLst xmlns:p="http://schemas.openxmlformats.org/presentationml/2006/main">
  <p:tag name="KSO_WM_DIAGRAM_VIRTUALLY_FRAME" val="{&quot;height&quot;:362,&quot;left&quot;:68,&quot;top&quot;:232,&quot;width&quot;:628}"/>
</p:tagLst>
</file>

<file path=ppt/tags/tag8.xml><?xml version="1.0" encoding="utf-8"?>
<p:tagLst xmlns:p="http://schemas.openxmlformats.org/presentationml/2006/main">
  <p:tag name="KSO_WM_DIAGRAM_VIRTUALLY_FRAME" val="{&quot;height&quot;:362,&quot;left&quot;:68,&quot;top&quot;:232,&quot;width&quot;:628}"/>
</p:tagLst>
</file>

<file path=ppt/tags/tag9.xml><?xml version="1.0" encoding="utf-8"?>
<p:tagLst xmlns:p="http://schemas.openxmlformats.org/presentationml/2006/main">
  <p:tag name="KSO_WM_DIAGRAM_VIRTUALLY_FRAME" val="{&quot;height&quot;:362,&quot;left&quot;:68,&quot;top&quot;:232,&quot;width&quot;:628}"/>
</p:tagLst>
</file>

<file path=ppt/tags/tag10.xml><?xml version="1.0" encoding="utf-8"?>
<p:tagLst xmlns:p="http://schemas.openxmlformats.org/presentationml/2006/main">
  <p:tag name="KSO_WM_DIAGRAM_VIRTUALLY_FRAME" val="{&quot;height&quot;:172.66669291338584,&quot;left&quot;:40.33330708661417,&quot;top&quot;:310.8333070866141,&quot;width&quot;:587.3333858267717}"/>
</p:tagLst>
</file>

<file path=ppt/tags/tag11.xml><?xml version="1.0" encoding="utf-8"?>
<p:tagLst xmlns:p="http://schemas.openxmlformats.org/presentationml/2006/main">
  <p:tag name="KSO_WM_DIAGRAM_VIRTUALLY_FRAME" val="{&quot;height&quot;:172.66669291338584,&quot;left&quot;:40.33330708661417,&quot;top&quot;:310.8333070866141,&quot;width&quot;:587.3333858267717}"/>
</p:tagLst>
</file>

<file path=ppt/tags/tag12.xml><?xml version="1.0" encoding="utf-8"?>
<p:tagLst xmlns:p="http://schemas.openxmlformats.org/presentationml/2006/main">
  <p:tag name="KSO_WM_DIAGRAM_VIRTUALLY_FRAME" val="{&quot;height&quot;:172.66669291338584,&quot;left&quot;:40.33330708661417,&quot;top&quot;:310.8333070866141,&quot;width&quot;:587.3333858267717}"/>
</p:tagLst>
</file>

<file path=ppt/tags/tag13.xml><?xml version="1.0" encoding="utf-8"?>
<p:tagLst xmlns:p="http://schemas.openxmlformats.org/presentationml/2006/main">
  <p:tag name="KSO_WM_DIAGRAM_VIRTUALLY_FRAME" val="{&quot;height&quot;:172.66669291338584,&quot;left&quot;:40.33330708661417,&quot;top&quot;:310.8333070866141,&quot;width&quot;:587.3333858267717}"/>
</p:tagLst>
</file>

<file path=ppt/tags/tag14.xml><?xml version="1.0" encoding="utf-8"?>
<p:tagLst xmlns:p="http://schemas.openxmlformats.org/presentationml/2006/main">
  <p:tag name="KSO_WM_DIAGRAM_VIRTUALLY_FRAME" val="{&quot;height&quot;:172.66669291338584,&quot;left&quot;:40.33330708661417,&quot;top&quot;:310.8333070866141,&quot;width&quot;:587.3333858267717}"/>
</p:tagLst>
</file>

<file path=ppt/tags/tag15.xml><?xml version="1.0" encoding="utf-8"?>
<p:tagLst xmlns:p="http://schemas.openxmlformats.org/presentationml/2006/main">
  <p:tag name="KSO_WM_DIAGRAM_VIRTUALLY_FRAME" val="{&quot;height&quot;:172.66669291338584,&quot;left&quot;:40.33330708661417,&quot;top&quot;:310.8333070866141,&quot;width&quot;:587.3333858267717}"/>
</p:tagLst>
</file>

<file path=ppt/tags/tag16.xml><?xml version="1.0" encoding="utf-8"?>
<p:tagLst xmlns:p="http://schemas.openxmlformats.org/presentationml/2006/main">
  <p:tag name="KSO_WM_DIAGRAM_VIRTUALLY_FRAME" val="{&quot;height&quot;:172.66669291338584,&quot;left&quot;:40.33330708661417,&quot;top&quot;:310.8333070866141,&quot;width&quot;:587.3333858267717}"/>
</p:tagLst>
</file>

<file path=ppt/tags/tag17.xml><?xml version="1.0" encoding="utf-8"?>
<p:tagLst xmlns:p="http://schemas.openxmlformats.org/presentationml/2006/main">
  <p:tag name="KSO_WM_DIAGRAM_VIRTUALLY_FRAME" val="{&quot;height&quot;:172.66669291338584,&quot;left&quot;:40.33330708661417,&quot;top&quot;:310.8333070866141,&quot;width&quot;:587.3333858267717}"/>
</p:tagLst>
</file>

<file path=ppt/tags/tag18.xml><?xml version="1.0" encoding="utf-8"?>
<p:tagLst xmlns:p="http://schemas.openxmlformats.org/presentationml/2006/main">
  <p:tag name="KSO_WM_DIAGRAM_VIRTUALLY_FRAME" val="{&quot;height&quot;:172.66669291338584,&quot;left&quot;:40.33330708661417,&quot;top&quot;:310.8333070866141,&quot;width&quot;:587.3333858267717}"/>
</p:tagLst>
</file>

<file path=ppt/tags/tag19.xml><?xml version="1.0" encoding="utf-8"?>
<p:tagLst xmlns:p="http://schemas.openxmlformats.org/presentationml/2006/main">
  <p:tag name="KSO_WM_DIAGRAM_VIRTUALLY_FRAME" val="{&quot;height&quot;:172.66669291338584,&quot;left&quot;:40.33330708661417,&quot;top&quot;:310.8333070866141,&quot;width&quot;:587.3333858267717}"/>
</p:tagLst>
</file>

<file path=ppt/tags/tag20.xml><?xml version="1.0" encoding="utf-8"?>
<p:tagLst xmlns:p="http://schemas.openxmlformats.org/presentationml/2006/main">
  <p:tag name="KSO_WM_DIAGRAM_VIRTUALLY_FRAME" val="{&quot;height&quot;:172.66669291338584,&quot;left&quot;:40.33330708661417,&quot;top&quot;:310.8333070866141,&quot;width&quot;:587.3333858267717}"/>
</p:tagLst>
</file>

<file path=ppt/tags/tag21.xml><?xml version="1.0" encoding="utf-8"?>
<p:tagLst xmlns:p="http://schemas.openxmlformats.org/presentationml/2006/main">
  <p:tag name="KSO_WM_DIAGRAM_VIRTUALLY_FRAME" val="{&quot;height&quot;:172.66669291338584,&quot;left&quot;:40.33330708661417,&quot;top&quot;:310.8333070866141,&quot;width&quot;:587.3333858267717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556</Words>
  <Application>WPS 演示</Application>
  <PresentationFormat>On-screen Show (16:9)</PresentationFormat>
  <Paragraphs>90</Paragraphs>
  <Slides>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2" baseType="lpstr">
      <vt:lpstr>Arial</vt:lpstr>
      <vt:lpstr>宋体</vt:lpstr>
      <vt:lpstr>Wingdings</vt:lpstr>
      <vt:lpstr>MiSans</vt:lpstr>
      <vt:lpstr>MiSans</vt:lpstr>
      <vt:lpstr>得意黑</vt:lpstr>
      <vt:lpstr>得意黑</vt:lpstr>
      <vt:lpstr>Calibri</vt:lpstr>
      <vt:lpstr>微软雅黑</vt:lpstr>
      <vt:lpstr>Arial Unicode MS</vt:lpstr>
      <vt:lpstr>等线</vt:lpstr>
      <vt:lpstr>Liter</vt:lpstr>
      <vt:lpstr>DejaVu Math TeX Gyre</vt:lpstr>
      <vt:lpstr>Liter</vt:lpstr>
      <vt:lpstr>Liter</vt:lpstr>
      <vt:lpstr>PMingLiU-ExtB</vt:lpstr>
      <vt:lpstr>Symeteo</vt:lpstr>
      <vt:lpstr>Custom Theme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Vigil – 程序员精力管理</dc:title>
  <dc:creator>Kimi</dc:creator>
  <dc:subject>Vigil – 程序员精力管理</dc:subject>
  <cp:lastModifiedBy>。</cp:lastModifiedBy>
  <cp:revision>3</cp:revision>
  <dcterms:created xsi:type="dcterms:W3CDTF">2025-12-28T06:02:00Z</dcterms:created>
  <dcterms:modified xsi:type="dcterms:W3CDTF">2025-12-28T07:12:50Z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{"Label":"Vigil – 程序员精力管理","ContentProducer":"001191110108MACG2KBH8F10000","ProduceID":"19b63835-7ab2-886e-8000-0000560c6577","ReservedCode1":"","ContentPropagator":"001191110108MACG2KBH8F20000","PropagateID":"19b63835-7ab2-886e-8000-0000560c6577","ReservedCode2":""}</vt:lpwstr>
  </property>
  <property fmtid="{D5CDD505-2E9C-101B-9397-08002B2CF9AE}" pid="3" name="ICV">
    <vt:lpwstr>046D19B2AE954666A3FB44B9DF1BE77F_13</vt:lpwstr>
  </property>
  <property fmtid="{D5CDD505-2E9C-101B-9397-08002B2CF9AE}" pid="4" name="KSOProductBuildVer">
    <vt:lpwstr>2052-12.1.0.24034</vt:lpwstr>
  </property>
</Properties>
</file>